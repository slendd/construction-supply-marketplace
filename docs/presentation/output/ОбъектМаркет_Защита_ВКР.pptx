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7a2beff2bb4c21" /><Relationship Type="http://schemas.openxmlformats.org/officeDocument/2006/relationships/extended-properties" Target="/docProps/app.xml" Id="R65baf9979d5f46ef" /><Relationship Type="http://schemas.openxmlformats.org/officeDocument/2006/relationships/officeDocument" Target="/ppt/presentation.xml" Id="R22f94a78017040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8114175ed2436d"/>
  </p:sldMasterIdLst>
  <p:notesMasterIdLst>
    <p:notesMasterId xmlns:r="http://schemas.openxmlformats.org/officeDocument/2006/relationships" r:id="R13fb601cf1f84e96"/>
  </p:notesMasterIdLst>
  <p:sldIdLst>
    <p:sldId xmlns:r="http://schemas.openxmlformats.org/officeDocument/2006/relationships" id="256" r:id="R1b77b4ab56da4282"/>
    <p:sldId xmlns:r="http://schemas.openxmlformats.org/officeDocument/2006/relationships" id="257" r:id="R0f1b9e041b734344"/>
    <p:sldId xmlns:r="http://schemas.openxmlformats.org/officeDocument/2006/relationships" id="258" r:id="R580d0a5507ca4b24"/>
    <p:sldId xmlns:r="http://schemas.openxmlformats.org/officeDocument/2006/relationships" id="259" r:id="R363a8a74d8b049f3"/>
    <p:sldId xmlns:r="http://schemas.openxmlformats.org/officeDocument/2006/relationships" id="260" r:id="Rec7645ee881d40f0"/>
    <p:sldId xmlns:r="http://schemas.openxmlformats.org/officeDocument/2006/relationships" id="261" r:id="R125a557eb7d54423"/>
    <p:sldId xmlns:r="http://schemas.openxmlformats.org/officeDocument/2006/relationships" id="262" r:id="R7e1fdb7a531f47e5"/>
    <p:sldId xmlns:r="http://schemas.openxmlformats.org/officeDocument/2006/relationships" id="263" r:id="Re8ef27a39b2e4fd2"/>
    <p:sldId xmlns:r="http://schemas.openxmlformats.org/officeDocument/2006/relationships" id="264" r:id="R9e964ae3fac74b3f"/>
    <p:sldId xmlns:r="http://schemas.openxmlformats.org/officeDocument/2006/relationships" id="265" r:id="Rf520eeab1c754e7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209337c8dc4e39" /><Relationship Type="http://schemas.openxmlformats.org/officeDocument/2006/relationships/slideMaster" Target="/ppt/slideMasters/slideMaster1.xml" Id="Rbf8114175ed2436d" /><Relationship Type="http://schemas.openxmlformats.org/officeDocument/2006/relationships/notesMaster" Target="/ppt/notesMasters/notesMaster1.xml" Id="R13fb601cf1f84e96" /><Relationship Type="http://schemas.openxmlformats.org/officeDocument/2006/relationships/presProps" Target="/ppt/presProps.xml" Id="Rd5a777c4948a4728" /><Relationship Type="http://schemas.openxmlformats.org/officeDocument/2006/relationships/viewProps" Target="/ppt/viewProps.xml" Id="R3ecfd6edc7ab4327" /><Relationship Type="http://schemas.openxmlformats.org/officeDocument/2006/relationships/tableStyles" Target="/ppt/tableStyles.xml" Id="R2cfa557861284346" /><Relationship Type="http://schemas.openxmlformats.org/officeDocument/2006/relationships/slide" Target="/ppt/slides/slide1.xml" Id="R1b77b4ab56da4282" /><Relationship Type="http://schemas.openxmlformats.org/officeDocument/2006/relationships/slide" Target="/ppt/slides/slide2.xml" Id="R0f1b9e041b734344" /><Relationship Type="http://schemas.openxmlformats.org/officeDocument/2006/relationships/slide" Target="/ppt/slides/slide3.xml" Id="R580d0a5507ca4b24" /><Relationship Type="http://schemas.openxmlformats.org/officeDocument/2006/relationships/slide" Target="/ppt/slides/slide4.xml" Id="R363a8a74d8b049f3" /><Relationship Type="http://schemas.openxmlformats.org/officeDocument/2006/relationships/slide" Target="/ppt/slides/slide5.xml" Id="Rec7645ee881d40f0" /><Relationship Type="http://schemas.openxmlformats.org/officeDocument/2006/relationships/slide" Target="/ppt/slides/slide6.xml" Id="R125a557eb7d54423" /><Relationship Type="http://schemas.openxmlformats.org/officeDocument/2006/relationships/slide" Target="/ppt/slides/slide7.xml" Id="R7e1fdb7a531f47e5" /><Relationship Type="http://schemas.openxmlformats.org/officeDocument/2006/relationships/slide" Target="/ppt/slides/slide8.xml" Id="Re8ef27a39b2e4fd2" /><Relationship Type="http://schemas.openxmlformats.org/officeDocument/2006/relationships/slide" Target="/ppt/slides/slide9.xml" Id="R9e964ae3fac74b3f" /><Relationship Type="http://schemas.openxmlformats.org/officeDocument/2006/relationships/slide" Target="/ppt/slides/slide10.xml" Id="Rf520eeab1c754e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67c9d6f77f41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fa901250424293" /><Relationship Type="http://schemas.openxmlformats.org/officeDocument/2006/relationships/notesMaster" Target="/ppt/notesMasters/notesMaster1.xml" Id="R16a2d2cbdfb84c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465642640a4fd2" /><Relationship Type="http://schemas.openxmlformats.org/officeDocument/2006/relationships/notesMaster" Target="/ppt/notesMasters/notesMaster1.xml" Id="Rf83a6b0479e345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c73a08497c40e7" /><Relationship Type="http://schemas.openxmlformats.org/officeDocument/2006/relationships/notesMaster" Target="/ppt/notesMasters/notesMaster1.xml" Id="Re54be5396ef844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ac5b7a6d754c4a" /><Relationship Type="http://schemas.openxmlformats.org/officeDocument/2006/relationships/notesMaster" Target="/ppt/notesMasters/notesMaster1.xml" Id="Rbf9ec4f016cd45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9d8fd39de04da0" /><Relationship Type="http://schemas.openxmlformats.org/officeDocument/2006/relationships/notesMaster" Target="/ppt/notesMasters/notesMaster1.xml" Id="R5abe8737e79744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ef4e146e0a4565" /><Relationship Type="http://schemas.openxmlformats.org/officeDocument/2006/relationships/notesMaster" Target="/ppt/notesMasters/notesMaster1.xml" Id="R225eccd1e81d4e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a0a4b6e6e34059" /><Relationship Type="http://schemas.openxmlformats.org/officeDocument/2006/relationships/notesMaster" Target="/ppt/notesMasters/notesMaster1.xml" Id="R9f19a33e6d7a43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09be850c294bdb" /><Relationship Type="http://schemas.openxmlformats.org/officeDocument/2006/relationships/notesMaster" Target="/ppt/notesMasters/notesMaster1.xml" Id="R8c139da11c634d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db297abae140ae" /><Relationship Type="http://schemas.openxmlformats.org/officeDocument/2006/relationships/notesMaster" Target="/ppt/notesMasters/notesMaster1.xml" Id="Rc32e7b46a3884c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37cfae12d940bd" /><Relationship Type="http://schemas.openxmlformats.org/officeDocument/2006/relationships/notesMaster" Target="/ppt/notesMasters/notesMaster1.xml" Id="R641255b3082f46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Тема и автор: docs/PROJECT.md. Точные данные руководителя и кафедры вносятся после утверждения титульного листа.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Постановка и сценарии: docs/RESEARCH.md и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по открытым страницам на сентябрь 2026 года: docs/RESEARCH.md; https://stroionly.ru/; https://mylogi.ru/app/; https://petrovich.ru/. Учебные ограничения: README.md и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сущностей и связей: docs/DATA_MODEL.md; SQL: api/migrations/.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Экран объекта снят с работающего приложения 27 сентября 2026 года. Дата 10.10.2026 относится к учебному примеру на снимке, её не нужно воспроизводить в живой демонстрации. Калькулятор выбирает фасованный товар и добавляет пересчитанную потребность: api/src/packaging.ts, web/src/components/material-calculator.tsx. Формулы и пример 19 коробок для 24 м² с запасом10%: docs/MATERIAL_CALCULATIONS.md.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Фактические технологии: README.md, docker-compose.yml, package.json в web/ и api/. Интеграции: api/src/routes/geo.ts; web/src/components/.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Реализация и проверки: api/src/routes/orders.ts, api/test/integration.ts. Резерв неоплаченного заказа 30 минут.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Поставщики и заказы вымышлены. Водитель вручную отмечает статусы. Схема соединяет фиксированные демонстрационные точки и не привязана к адресу заказа. Движение автомобиля и GPS отсутствуют. Код внешних сервисов2ГИС/DaData предусмотрен, но с действующими ключами не проверен. Реализация: api/src/routes/operations.ts, geo.ts; web/src/components/route-map.tsx.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1 октября 2026 года: 30/30 модульных проверок API, integration, migrations и smoke прошли для a5b28a4 в CI36902096134. После добавления закупки по этапам локально прошли production build и 78/78 проверок Playwright: 77 браузерных и один денежный formatter; 11 предметных сценариев используют настоящий API. Отдельные API4100/Next3100/PostgreSQL17; TZ Europe/Astrakhan. Локальное восстановление дампа и миграция005 проверены. Условия и ограничения: docs/TEST_RESULTS.md. Скорость ручной закупки и реальная экономия не измерялись.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Функции: docs/PROJECT.md. Ограничения и следующие шаги: docs/ARCHITECTURE.md, docs/DEPLOY.md. Репозиторий: https://github.com/SleNdd/construction-supply-marketplace.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a5f5fbca048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a8f216c3194c54" /><Relationship Type="http://schemas.openxmlformats.org/officeDocument/2006/relationships/slideLayout" Target="/ppt/slideLayouts/slideLayout1.xml" Id="R9f78cc60300d40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8cc60300d40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16b1869d54b95" /><Relationship Type="http://schemas.openxmlformats.org/officeDocument/2006/relationships/notesSlide" Target="/ppt/notesSlides/notesSlide1.xml" Id="R89df2aee55aa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d99e3685f49ee" /><Relationship Type="http://schemas.openxmlformats.org/officeDocument/2006/relationships/notesSlide" Target="/ppt/notesSlides/notesSlide2.xml" Id="R867471e8b82d4a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670d24b534f26" /><Relationship Type="http://schemas.openxmlformats.org/officeDocument/2006/relationships/notesSlide" Target="/ppt/notesSlides/notesSlide3.xml" Id="R5e73ff2a8c7b41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5fd620a1e4533" /><Relationship Type="http://schemas.openxmlformats.org/officeDocument/2006/relationships/notesSlide" Target="/ppt/notesSlides/notesSlide4.xml" Id="Rea827f99245d44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a44671302439c" /><Relationship Type="http://schemas.openxmlformats.org/officeDocument/2006/relationships/image" Target="/ppt/media/image.png" Id="R6bcd27c62aae408f" /><Relationship Type="http://schemas.openxmlformats.org/officeDocument/2006/relationships/notesSlide" Target="/ppt/notesSlides/notesSlide5.xml" Id="Rd4b00f14f3f84f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b4d0f8e734555" /><Relationship Type="http://schemas.openxmlformats.org/officeDocument/2006/relationships/notesSlide" Target="/ppt/notesSlides/notesSlide6.xml" Id="Rb6672c98bd0840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244c8179b4177" /><Relationship Type="http://schemas.openxmlformats.org/officeDocument/2006/relationships/notesSlide" Target="/ppt/notesSlides/notesSlide7.xml" Id="Ra9f9d2025eaa4c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0e0856ea042af" /><Relationship Type="http://schemas.openxmlformats.org/officeDocument/2006/relationships/image" Target="/ppt/media/image2.png" Id="Rd24d18b98a8445e6" /><Relationship Type="http://schemas.openxmlformats.org/officeDocument/2006/relationships/notesSlide" Target="/ppt/notesSlides/notesSlide8.xml" Id="Rf0ad8f8c987f40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6dccd95144b5d" /><Relationship Type="http://schemas.openxmlformats.org/officeDocument/2006/relationships/notesSlide" Target="/ppt/notesSlides/notesSlide9.xml" Id="R2974684b995548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6ecd77ba845d2" /><Relationship Type="http://schemas.openxmlformats.org/officeDocument/2006/relationships/notesSlide" Target="/ppt/notesSlides/notesSlide10.xml" Id="Rd9a94d78dc504e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4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430B519-4CC4-4EA4-8B49-0AAFB07C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E8EE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EEE7"/>
                </a:solidFill>
                <a:latin typeface="Arial"/>
                <a:ea typeface="Arial"/>
                <a:cs typeface="Arial"/>
              </a:rPr>
              <a:t>Выпускная квалификационная работа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831CC8C-5812-43EF-9ABD-0C73AC56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191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639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Разработка информационной системы выбора и поставки строительных материалов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A9AB2676-2B2D-479B-82C4-B56CE6F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3EBE1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E3EBE1"/>
                </a:solidFill>
                <a:latin typeface="Arial"/>
                <a:ea typeface="Arial"/>
                <a:cs typeface="Arial"/>
              </a:rPr>
              <a:t>с учётом потребностей строительного объекта</a:t>
            </a:r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F65A6872-1EF2-46CB-BAA7-6A482C35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F9F"/>
            </a:solidFill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C39C6FE1-62C7-4832-9B59-E6E8FBB8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6191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«ОбъектМаркет»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5BA2B494-1F5D-4523-9AE1-B09889B4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8EE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EE7"/>
                </a:solidFill>
                <a:latin typeface="Arial"/>
                <a:ea typeface="Arial"/>
                <a:cs typeface="Arial"/>
              </a:rPr>
              <a:t>Бальдюсов Кирилл Андреевич  ·  ЗИТ-51-22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31B330B9-104D-40AA-9B35-0C78D0F0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8D6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6C8"/>
                </a:solidFill>
                <a:latin typeface="Arial"/>
                <a:ea typeface="Arial"/>
                <a:cs typeface="Arial"/>
              </a:rPr>
              <a:t>АГАСУ  ·  09.03.02  ·  2026</a:t>
            </a:r>
          </a:p>
        </p:txBody>
      </p:sp>
    </p:spTree>
    <p:extLst>
      <p:ext uri="{BB962C8B-B14F-4D97-AF65-F5344CB8AC3E}">
        <p14:creationId xmlns:p14="http://schemas.microsoft.com/office/powerpoint/2010/main" val="1175490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7EB11BC5-F602-4A34-BCD2-FFA9FA52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Задача закупки под объект</a:t>
            </a: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DF076924-130E-4670-B8BC-E8B92B74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AD884C9C-990F-42B0-91BD-E64E544F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ОБЪЕКТМАРКЕТ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FAB5EFD2-2D9A-4EB8-BDBD-2736D8F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0EB3492B-6ACD-428F-8400-5F6C5D34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Цена за единицу не описывает всю закупку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077F3AC8-5DD0-4F25-A5DD-1D839DEC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BB00082-5035-433A-A9F0-5BF147AC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Количество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3573546D-BE6B-40A7-9CF3-C252467C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3962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Сколько материала требуется по перечню работ и норме расхода.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E0AA28F-0C1D-4539-B6FE-C8ECC8A4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D3BEA14-78D8-4CF6-97CB-9105A795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Наличие и дата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3C26D94F-25A1-42D9-964E-106EA6F0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3962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Хватит ли остатка к нужному этапу строительства.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6B6115EE-731C-405B-BED5-C9195A3C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02D9B8A-D36D-426B-8E51-DA828149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Доставка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F06EA26-7DC9-4EE0-B647-3DFD35AF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3962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Сколько стоит поставка с учётом выбранных продавцов.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55867720-92B6-4A47-B245-4097D908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52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96B61"/>
                </a:solidFill>
                <a:latin typeface="Arial"/>
                <a:ea typeface="Arial"/>
                <a:cs typeface="Arial"/>
              </a:rPr>
              <a:t>Цель работы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7A147AFA-54B3-4D3D-98DA-D8D51DBC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90850"/>
            <a:ext cx="44291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Провести закупку от расчёта потребности до завершённой поставки в одном приложении.</a:t>
            </a:r>
          </a:p>
        </p:txBody>
      </p:sp>
    </p:spTree>
    <p:extLst>
      <p:ext uri="{BB962C8B-B14F-4D97-AF65-F5344CB8AC3E}">
        <p14:creationId xmlns:p14="http://schemas.microsoft.com/office/powerpoint/2010/main" val="1396783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8DF9B468-1952-4737-87C7-A0B6C4DE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Аналоги и рамки проекта</a:t>
            </a: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759FDCDE-8B19-4F4F-8619-1287AB4E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42A32CF2-3E3B-425A-90C7-B1B5073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ОБЪЕКТМАРКЕТ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D93F1384-428A-4777-838A-75E7AE7E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7ACCF80A-F10B-4779-BE86-EC8B23FE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Строительные площадки уже существуют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7C036DF5-2D20-4FA9-9759-0ABE8A5F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СтройОнли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D95E806C-9C74-4366-8E04-D0BD30DF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003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Каталог и загрузка сметы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AB71EE70-A771-4868-A92F-0AB1759C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7C35385-98BB-4A8C-8E31-090458B3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ЛОГИ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197E2240-A550-40A6-BDCF-3D610998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051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Комплектация и доставка на объект</a:t>
            </a:r>
          </a:p>
        </p:txBody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CAC93B6B-8E83-41F1-851F-F51AFB28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7751E795-2DE5-464F-BD21-4B39B78D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Петрович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CC4F0B59-9C2A-4FDF-A1A9-766F0FF1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8100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Интернет-магазин и сервисы расчёта</a:t>
            </a:r>
          </a:p>
        </p:txBody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B14D7EF7-2DF0-47A6-800E-B219BF12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870DB528-6896-4C4A-A3A6-A6F46A63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767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В «ОбъектМаркете» проверяется связка потребности объекта, предложений и отдельной поставки.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39C108AB-1FB6-47C2-8C6D-E475EB8D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6532"/>
                </a:solidFill>
                <a:latin typeface="Arial"/>
                <a:ea typeface="Arial"/>
                <a:cs typeface="Arial"/>
              </a:rPr>
              <a:t>Поставщики и цены вымышлены. Оплата учебная, статусы поставки отмечаются вручную.</a:t>
            </a:r>
          </a:p>
        </p:txBody>
      </p:sp>
    </p:spTree>
    <p:extLst>
      <p:ext uri="{BB962C8B-B14F-4D97-AF65-F5344CB8AC3E}">
        <p14:creationId xmlns:p14="http://schemas.microsoft.com/office/powerpoint/2010/main" val="13798296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1448D449-8B21-4EB7-8166-42B462AB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Предметная модель</a:t>
            </a: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7AE8AE51-7B94-48E3-BCE0-ADF4DC6F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ECB0CB60-406B-412C-A799-58C062AD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ОБЪЕКТМАРКЕТ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D1183EDB-EF36-4077-9DC2-DDC42312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B90E7FD-AD18-4507-86C4-07D1AC16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906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Материал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31C7CE70-2930-480C-B8F3-FEC3F8E0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90675"/>
            <a:ext cx="738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26"/>
                </a:solidFill>
                <a:latin typeface="Arial"/>
                <a:ea typeface="Arial"/>
                <a:cs typeface="Arial"/>
              </a:rPr>
              <a:t>Характеристики и единица измерения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84187B35-03E3-490F-A6DE-FFAC250B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76475"/>
            <a:ext cx="1014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028176B-8670-41FD-A30D-B8F430C1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Предложение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E748D576-D936-4EEF-A43F-74B1F491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738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26"/>
                </a:solidFill>
                <a:latin typeface="Arial"/>
                <a:ea typeface="Arial"/>
                <a:cs typeface="Arial"/>
              </a:rPr>
              <a:t>Поставщик, цена, срок и остаток</a:t>
            </a: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08D2A04B-54A8-4B97-9932-400D8FF3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14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3C550042-EF5A-42FA-9181-FC2CD9BA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242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Объект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DA6F61B8-92E4-4A04-A210-66BDDBF4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24225"/>
            <a:ext cx="738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26"/>
                </a:solidFill>
                <a:latin typeface="Arial"/>
                <a:ea typeface="Arial"/>
                <a:cs typeface="Arial"/>
              </a:rPr>
              <a:t>Адрес и потребность по этапам</a:t>
            </a:r>
          </a:p>
        </p:txBody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C71D2E2F-2C1B-41B1-9791-D5E68750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0025"/>
            <a:ext cx="1014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EA6C4E8A-7D45-4A11-A9F3-A1ECD966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Заказ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840867E0-23FE-41CA-A296-A1B66B60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91000"/>
            <a:ext cx="738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26"/>
                </a:solidFill>
                <a:latin typeface="Arial"/>
                <a:ea typeface="Arial"/>
                <a:cs typeface="Arial"/>
              </a:rPr>
              <a:t>Зафиксированные позиции и цены</a:t>
            </a:r>
          </a:p>
        </p:txBody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F7A9646A-FA98-42C7-995C-EC8FBE00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1014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04A0A61E-8917-4F1E-8369-5899AF7E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577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Поставка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D3FAB34C-7BFE-410E-9DD5-2A2BD8D9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57775"/>
            <a:ext cx="738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26"/>
                </a:solidFill>
                <a:latin typeface="Arial"/>
                <a:ea typeface="Arial"/>
                <a:cs typeface="Arial"/>
              </a:rPr>
              <a:t>Отдельный статус для поставщика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F6FEF7A6-6A5E-45F0-8B13-90A95CC3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6532"/>
                </a:solidFill>
                <a:latin typeface="Arial"/>
                <a:ea typeface="Arial"/>
                <a:cs typeface="Arial"/>
              </a:rPr>
              <a:t>Один материал может иметь несколько предложений. Один заказ может включать несколько поставок.</a:t>
            </a:r>
          </a:p>
        </p:txBody>
      </p:sp>
    </p:spTree>
    <p:extLst>
      <p:ext uri="{BB962C8B-B14F-4D97-AF65-F5344CB8AC3E}">
        <p14:creationId xmlns:p14="http://schemas.microsoft.com/office/powerpoint/2010/main" val="244437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2A8C6B23-8806-466F-881A-A7A899CF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Расчёт закупки для объекта</a:t>
            </a: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18C8751C-13B5-4138-955E-FDBE3182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B29A2F6B-43F3-46F0-A775-4754B7F5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ОБЪЕКТМАРКЕТ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EFF2C902-3E18-405D-82C7-474D2122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5" name="Рисунок 14">
            <a:extLst xmlns:a="http://schemas.openxmlformats.org/drawingml/2006/main">
              <a:ext uri="{FF2B5EF4-FFF2-40B4-BE49-F238E27FC236}">
                <a16:creationId xmlns:a16="http://schemas.microsoft.com/office/drawing/2014/main" id="{9F3B7342-348C-414A-95DD-40F223DD70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d27c62aae408f"/>
          <a:srcRect xmlns:a="http://schemas.openxmlformats.org/drawingml/2006/main" l="0" t="79" r="0" b="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1581150"/>
            <a:ext cx="7219950" cy="4505325"/>
          </a:xfrm>
          <a:prstGeom xmlns:a="http://schemas.openxmlformats.org/drawingml/2006/main" prst="rect">
            <a:avLst/>
          </a:prstGeom>
        </p:spPr>
      </p:pic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4AEF92EF-62B9-4A25-9986-7E8CFA07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33550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12 мешков цемента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6907EB4A-1FDB-4AB8-88EA-08071886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47900"/>
            <a:ext cx="307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к этапу 10.10.2026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107FE45C-B872-4340-907E-D2E41C6A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CE7D9ECA-8C4C-4773-9049-B3E804E7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143250"/>
            <a:ext cx="309562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26"/>
                </a:solidFill>
                <a:latin typeface="Arial"/>
                <a:ea typeface="Arial"/>
                <a:cs typeface="Arial"/>
              </a:rPr>
              <a:t>Подбор учитывает остаток, дату и цену позиции с доставкой. Итоговую доставку сервер считает по поставщикам.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E8E1B7F0-AB46-4460-9443-47E5D7C8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419725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CSV / XLSX, до 200 строк</a:t>
            </a:r>
          </a:p>
        </p:txBody>
      </p:sp>
    </p:spTree>
    <p:extLst>
      <p:ext uri="{BB962C8B-B14F-4D97-AF65-F5344CB8AC3E}">
        <p14:creationId xmlns:p14="http://schemas.microsoft.com/office/powerpoint/2010/main" val="8643478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0655A939-4608-4F7B-8F5B-6A3F5856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Архитектура приложения</a:t>
            </a: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AD15FE45-4E45-491C-8BE5-A28CB041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830F6675-5311-453B-A4AD-58B079D1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ОБЪЕКТМАРКЕТ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BCD45A0-357C-4E0A-B278-DA6D91BF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A136BAD-A28E-45BE-B823-707518D8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Браузер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0BA49AB7-979B-4D56-81E1-2B1CAE1A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383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Next.js / React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741CB5AE-16D3-4215-B41E-8631A7FD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668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Каталог, объекты, кабинеты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9170E167-40A4-47E5-9F21-57D75313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336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48156CF0-C6E0-4547-906D-48787FB8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FFDE6829-4062-4594-9F80-F4E8431B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NestJS / TypeScript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A4FC0C63-4453-4620-B8F8-543927F5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65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HTTP API, права, расчёт заказа</a:t>
            </a:r>
          </a:p>
        </p:txBody>
      </p:sp>
      <p:sp>
        <p:nvSpPr>
          <p:cNvPr id="12" name="Прямая соединительная линия 11">
            <a:extLst xmlns:a="http://schemas.openxmlformats.org/drawingml/2006/main">
              <a:ext uri="{FF2B5EF4-FFF2-40B4-BE49-F238E27FC236}">
                <a16:creationId xmlns:a16="http://schemas.microsoft.com/office/drawing/2014/main" id="{491A2BCB-FED7-44FD-BEF5-7778B85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2A374F3D-74C1-4DB5-ABFF-7FE90B35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EB90BA91-8B63-4B47-8AC9-A3297FC2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577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847375EC-F159-4FA2-968C-10D39DF9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862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Остатки, заказы и поставки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62EB2383-D25F-4287-AD47-6E9859FA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Docker Compose  ·  миграции и демоданные  ·  OpenAPI</a:t>
            </a:r>
          </a:p>
        </p:txBody>
      </p:sp>
    </p:spTree>
    <p:extLst>
      <p:ext uri="{BB962C8B-B14F-4D97-AF65-F5344CB8AC3E}">
        <p14:creationId xmlns:p14="http://schemas.microsoft.com/office/powerpoint/2010/main" val="442135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D46E93E4-DA2B-4141-91A8-CA7BE68F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Оформление заказа</a:t>
            </a: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F4F4BF75-D2F9-4FB0-BC73-2084EA9C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312B1CBD-3E4B-4A61-9EAD-8797C480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ОБЪЕКТМАРКЕТ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5278E37F-5B99-4C83-A0C1-3C805F0D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61E2DB1-9344-4077-A16F-0B0A147B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B6AE0886-7901-41BC-9A57-5166F83C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48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Предварительный расчёт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E6695927-DC80-44B4-8CA6-B17B79E6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71700"/>
            <a:ext cx="948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Показывает цену, доступность и сроки. Остаток пока не меняется.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53A682B-330F-4205-8392-4BE02B61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2B929A39-4E26-4CE4-98AB-11624B7B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48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Транзакция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48F214E9-BA3D-45E7-A448-6795524F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948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Сервер повторно проверяет предложения и блокирует строки остатков.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1A4EAB87-A540-46BB-B02B-96144629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42576548-DC31-4C72-8FD3-FAB211B7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948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Резерв и заказ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C97DD4F-A092-49DA-9602-E011BE9E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948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Количество уменьшается один раз. Повтор запроса возвращает тот же заказ.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98E7FA2C-E1FF-439A-A468-D72EA742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Отмена или истечение 30 минут возвращают резерв на склад.</a:t>
            </a:r>
          </a:p>
        </p:txBody>
      </p:sp>
    </p:spTree>
    <p:extLst>
      <p:ext uri="{BB962C8B-B14F-4D97-AF65-F5344CB8AC3E}">
        <p14:creationId xmlns:p14="http://schemas.microsoft.com/office/powerpoint/2010/main" val="1799042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503155AB-FC43-497E-B925-8715266B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Поставка и карта</a:t>
            </a: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185BE2C9-36D0-4772-81E9-2F1C20A2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90C7213-3521-47A7-A3CD-DAE07F25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ОБЪЕКТМАРКЕТ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82040BF-AC3A-4E77-8025-59028AB2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7" name="Рисунок 16">
            <a:extLst xmlns:a="http://schemas.openxmlformats.org/drawingml/2006/main">
              <a:ext uri="{FF2B5EF4-FFF2-40B4-BE49-F238E27FC236}">
                <a16:creationId xmlns:a16="http://schemas.microsoft.com/office/drawing/2014/main" id="{C1F18C7A-A0F8-4423-AD17-7883378AE4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d18b98a8445e6"/>
          <a:srcRect xmlns:a="http://schemas.openxmlformats.org/drawingml/2006/main" l="214" t="0" r="2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1581150"/>
            <a:ext cx="7086600" cy="4448175"/>
          </a:xfrm>
          <a:prstGeom xmlns:a="http://schemas.openxmlformats.org/drawingml/2006/main" prst="rect">
            <a:avLst/>
          </a:prstGeom>
        </p:spPr>
      </p:pic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7C5582C8-1001-49A7-9ADD-46F76B35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28775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Покупатель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A6EF39F0-78C4-4860-8B29-E503C070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288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видит заказ и статусы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F1C7AFF2-A4B0-4D81-AB3A-72E0D0CD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95575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Диспетчер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4F5C005A-0DDF-46C1-81E7-E3F92F5A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095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назначает водителя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C6A440E-95B4-46A0-A538-79D5622A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719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Водитель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DC67B4AB-1260-4FFA-8282-03415EC5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71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отмечает этапы рейса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68DD974E-A7F8-4D06-BEF0-8841AEC5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095875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Статичная демосхема. Движение машины и GPS не реализованы.</a:t>
            </a:r>
          </a:p>
        </p:txBody>
      </p:sp>
    </p:spTree>
    <p:extLst>
      <p:ext uri="{BB962C8B-B14F-4D97-AF65-F5344CB8AC3E}">
        <p14:creationId xmlns:p14="http://schemas.microsoft.com/office/powerpoint/2010/main" val="1200736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541DCF38-7B5B-4945-9077-6DE4C808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Испытания</a:t>
            </a: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EACD4747-2FE1-4062-B847-BE0733B1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6B5AE5C-92A4-4605-A26F-EB35AEE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ОБЪЕКТМАРКЕТ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7C9FCDA7-4EEF-4170-A7A9-B5F3DA09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CE2468B6-9EFA-4A07-9504-0017E1CD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319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30 из 30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C222A09A-5CF0-43E4-9E47-B6553005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384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модульных тестов API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B221CE5F-361D-4D86-8232-22D24852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FC07C85C-0A58-4CAE-85F1-229138A6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57575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Интеграционный сценарий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350F2AA5-A270-4E50-BD03-45617EBA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19475"/>
            <a:ext cx="5572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Идемпотентность, нехватка и возврат остатков, права, параллельные заказы.</a:t>
            </a: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21B34029-6A52-4982-83B7-665ECB6A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1DC10FDB-3BB2-4DEB-8C8D-2B9246C7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78 автоматических проверок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1816BD8E-14CE-4C0D-9B7B-1B535B21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72025"/>
            <a:ext cx="5572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11 сценариев с настоящим API. Остальные проверяют клиентское поведение.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F4F2CF9A-305D-4A39-8010-978A3033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56532"/>
                </a:solidFill>
                <a:latin typeface="Arial"/>
                <a:ea typeface="Arial"/>
                <a:cs typeface="Arial"/>
              </a:rPr>
              <a:t>Внешние сервисы с действующими ключами не испытывались.</a:t>
            </a:r>
          </a:p>
        </p:txBody>
      </p:sp>
    </p:spTree>
    <p:extLst>
      <p:ext uri="{BB962C8B-B14F-4D97-AF65-F5344CB8AC3E}">
        <p14:creationId xmlns:p14="http://schemas.microsoft.com/office/powerpoint/2010/main" val="8633618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3C2E48C6-7FEA-41D9-884F-388B589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2D26"/>
                </a:solidFill>
                <a:latin typeface="Arial"/>
                <a:ea typeface="Arial"/>
                <a:cs typeface="Arial"/>
              </a:rPr>
              <a:t>Результат работы</a:t>
            </a: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1DF62A89-5676-4030-9E23-CA102534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A81F466F-A464-40A2-919E-79B64AC5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ОБЪЕКТМАРКЕТ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ACC6D9C-1DE2-4315-BDA5-6229FFA9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5603246-8C17-4A05-9DD0-B7D26AE6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4638"/>
                </a:solidFill>
                <a:latin typeface="Arial"/>
                <a:ea typeface="Arial"/>
                <a:cs typeface="Arial"/>
              </a:rPr>
              <a:t>Работающий сквозной сценарий закупки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D8C3E2A5-3F75-4334-9D8B-22CFDF13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D2D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2D26"/>
                </a:solidFill>
                <a:latin typeface="Arial"/>
                <a:ea typeface="Arial"/>
                <a:cs typeface="Arial"/>
              </a:rPr>
              <a:t>Сценарий от потребности объекта до завершённой учебной поставки проверен на отдельном локальном стенде.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38B034DD-302F-411E-BD7E-34470904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CA"/>
            </a:solidFill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BAF1E883-ED1B-4F32-BB94-5F951770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C565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56532"/>
                </a:solidFill>
                <a:latin typeface="Arial"/>
                <a:ea typeface="Arial"/>
                <a:cs typeface="Arial"/>
              </a:rPr>
              <a:t>Для реального применения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CB88E6E-2560-4D27-AE76-74C4566F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04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B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1"/>
                </a:solidFill>
                <a:latin typeface="Arial"/>
                <a:ea typeface="Arial"/>
                <a:cs typeface="Arial"/>
              </a:rPr>
              <a:t>нужны актуальные данные поставщиков, договоры на сервисы и отдельные эксплуатационные испытания.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654F62C0-8083-4BC8-96AE-5B0433D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946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4638"/>
                </a:solidFill>
                <a:latin typeface="Arial"/>
                <a:ea typeface="Arial"/>
                <a:cs typeface="Arial"/>
              </a:rPr>
              <a:t>github.com/SleNdd/construction-supply-marketplace</a:t>
            </a:r>
          </a:p>
        </p:txBody>
      </p:sp>
    </p:spTree>
    <p:extLst>
      <p:ext uri="{BB962C8B-B14F-4D97-AF65-F5344CB8AC3E}">
        <p14:creationId xmlns:p14="http://schemas.microsoft.com/office/powerpoint/2010/main" val="206134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16:9</ns0:PresentationFormat>
  <ns0:Slides>10</ns0:Slides>
  <ns0:Notes>10</ns0:Notes>
  <ns0:HiddenSlides>0</ns0:HiddenSlides>
  <ns0:SharedDoc>false</ns0:SharedDoc>
  <ns0:DocSecurity>0</ns0:DocSecurity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ОбъектМаркет</dc:creator>
  <cp:lastModifiedBy>ОбъектМаркет</cp:lastModifiedBy>
  <dc:title>ОбъектМаркет. Защита ВКР</dc:title>
  <dcterms:created xsi:type="dcterms:W3CDTF">2026-10-01T19:02:37.2500000Z</dcterms:created>
  <dcterms:modified xsi:type="dcterms:W3CDTF">2026-10-01T19:02:37.2500000Z</dcterms:modified>
</cp:coreProperties>
</file>