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Тема и автор: docs/PROJECT.md. Точные данные руководителя и кафедры вносятся после утверждения титульного 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Постановка и сценарии: docs/RESEARCH.md и docs/PROJECT.md.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Сравнение по открытым страницам на сентябрь 2026 года: docs/RESEARCH.md; https://stroionly.ru/; https://mylogi.ru/app/; https://petrovich.ru/. Учебные ограничения: README.md и docs/PROJECT.md.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Описание сущностей и связей: docs/DATA_MODEL.md; SQL: api/migrations/.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Экран снят с работающего локального приложения 27.09.2026. Пример «Ремонт жилого дома» — демонстрационные данные. Правило выбора: docs/ARCHITECTURE.md, api/src/routes/projects.ts; калькуляторы: web/src/lib/calculators.ts.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Фактические технологии: README.md, docker-compose.yml, package.json в web/ и api/. Интеграции: api/src/routes/geo.ts; web/src/components/.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Реализация и проверки: api/src/routes/orders.ts, api/test/integration.ts. Резерв неоплаченного заказа 30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Экран заказов снят 27.09.2026 из работающего локального приложения; данные вымышлены. Статусы: api/src/routes/operations.ts. Карты и демонстрационный режим: api/src/routes/geo.ts, docs/ARCHITECTURE.md.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Результаты: npm test — 5/5; npm run test:integration и npm run smoke успешно на отдельной PostgreSQL 16; web npm run lint, npm run typecheck, npm run build успешны. Браузерный сценарий в Docker на PostgreSQL 17 и адаптивность проверены 27.09.2026. Реальные ключи 2ГИС/DaData не проверялись.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Функции: docs/PROJECT.md. Ограничения и следующие шаги: docs/ARCHITECTURE.md, docs/DEPLOY.md. Репозиторий: https://github.com/SleNdd/construction-supply-marketplace.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46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430B519-4CC4-4EA4-8B49-0AAFB07C0D25}"/>
              </a:ext>
            </a:extLst>
          </p:cNvPr>
          <p:cNvSpPr>
            <a:spLocks noGrp="1"/>
          </p:cNvSpPr>
          <p:nvPr/>
        </p:nvSpPr>
        <p:spPr>
          <a:xfrm>
            <a:off x="723900" y="685800"/>
            <a:ext cx="10477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0">
                <a:solidFill>
                  <a:srgbClr val="E8EEE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8EEE7"/>
                </a:solidFill>
                <a:latin typeface="Arial"/>
                <a:ea typeface="Arial"/>
                <a:cs typeface="Arial"/>
              </a:rPr>
              <a:t>Выпускная квалификационная работа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831CC8C-5812-43EF-9ABD-0C73AC568AFB}"/>
              </a:ext>
            </a:extLst>
          </p:cNvPr>
          <p:cNvSpPr>
            <a:spLocks noGrp="1"/>
          </p:cNvSpPr>
          <p:nvPr/>
        </p:nvSpPr>
        <p:spPr>
          <a:xfrm>
            <a:off x="723900" y="1600200"/>
            <a:ext cx="10191750" cy="1657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8639"/>
          </a:bodyPr>
          <a:lstStyle/>
          <a:p>
            <a:pPr algn="l">
              <a:defRPr sz="3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Разработка информационной системы выбора и поставки строительных материалов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AB2676-2B2D-479B-82C4-B56CE6F9A2AB}"/>
              </a:ext>
            </a:extLst>
          </p:cNvPr>
          <p:cNvSpPr>
            <a:spLocks noGrp="1"/>
          </p:cNvSpPr>
          <p:nvPr/>
        </p:nvSpPr>
        <p:spPr>
          <a:xfrm>
            <a:off x="723900" y="3286125"/>
            <a:ext cx="10001250" cy="904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925" b="0">
                <a:solidFill>
                  <a:srgbClr val="E3EBE1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E3EBE1"/>
                </a:solidFill>
                <a:latin typeface="Arial"/>
                <a:ea typeface="Arial"/>
                <a:cs typeface="Arial"/>
              </a:rPr>
              <a:t>с учётом потребностей строительного объекта</a:t>
            </a:r>
          </a:p>
        </p:txBody>
      </p:sp>
      <p:sp>
        <p:nv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F65A6872-1EF2-46CB-BAA7-6A482C352CEC}"/>
              </a:ext>
            </a:extLst>
          </p:cNvPr>
          <p:cNvSpPr>
            <a:spLocks noGrp="1"/>
          </p:cNvSpPr>
          <p:nvPr/>
        </p:nvSpPr>
        <p:spPr>
          <a:xfrm>
            <a:off x="723900" y="4533900"/>
            <a:ext cx="10715625" cy="0"/>
          </a:xfrm>
          <a:prstGeom prst="line">
            <a:avLst/>
          </a:prstGeom>
          <a:noFill/>
          <a:ln w="9525">
            <a:solidFill>
              <a:srgbClr val="9AAF9F"/>
            </a:solidFill>
          </a:ln>
        </p:spPr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9C6FE1-62C7-4832-9B59-E6E8FBB8BE11}"/>
              </a:ext>
            </a:extLst>
          </p:cNvPr>
          <p:cNvSpPr>
            <a:spLocks noGrp="1"/>
          </p:cNvSpPr>
          <p:nvPr/>
        </p:nvSpPr>
        <p:spPr>
          <a:xfrm>
            <a:off x="723900" y="4876800"/>
            <a:ext cx="61912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«ОбъектМаркет»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BA2B494-1F5D-4523-9AE1-B09889B4F3AD}"/>
              </a:ext>
            </a:extLst>
          </p:cNvPr>
          <p:cNvSpPr>
            <a:spLocks noGrp="1"/>
          </p:cNvSpPr>
          <p:nvPr/>
        </p:nvSpPr>
        <p:spPr>
          <a:xfrm>
            <a:off x="723900" y="5791200"/>
            <a:ext cx="857250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0">
                <a:solidFill>
                  <a:srgbClr val="E8EEE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8EEE7"/>
                </a:solidFill>
                <a:latin typeface="Arial"/>
                <a:ea typeface="Arial"/>
                <a:cs typeface="Arial"/>
              </a:rPr>
              <a:t>Бальдюсов Кирилл Андреевич  ·  ЗИТ-51-22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1B330B9-104D-40AA-9B35-0C78D0F0E351}"/>
              </a:ext>
            </a:extLst>
          </p:cNvPr>
          <p:cNvSpPr>
            <a:spLocks noGrp="1"/>
          </p:cNvSpPr>
          <p:nvPr/>
        </p:nvSpPr>
        <p:spPr>
          <a:xfrm>
            <a:off x="723900" y="6153150"/>
            <a:ext cx="85725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C8D6C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6C8"/>
                </a:solidFill>
                <a:latin typeface="Arial"/>
                <a:ea typeface="Arial"/>
                <a:cs typeface="Arial"/>
              </a:rPr>
              <a:t>АГАСУ  ·  09.03.02  ·  2026</a:t>
            </a:r>
          </a:p>
        </p:txBody>
      </p:sp>
    </p:spTree>
    <p:extLst>
      <p:ext uri="{BB962C8B-B14F-4D97-AF65-F5344CB8AC3E}">
        <p14:creationId xmlns:p14="http://schemas.microsoft.com/office/powerpoint/2010/main" val="11754901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EB11BC5-F602-4A34-BCD2-FFA9FA5258B8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3000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Задача закупки под объект</a:t>
            </a:r>
          </a:p>
        </p:txBody>
      </p:sp>
      <p:sp>
        <p:nv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DF076924-130E-4670-B8BC-E8B92B745399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1082040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D884C9C-990F-42B0-91BD-E64E544FCBC1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3238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ОБЪЕКТМАРКЕТ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AB5EFD2-2D9A-4EB8-BDBD-2736D8FB7808}"/>
              </a:ext>
            </a:extLst>
          </p:cNvPr>
          <p:cNvSpPr>
            <a:spLocks noGrp="1"/>
          </p:cNvSpPr>
          <p:nvPr/>
        </p:nvSpPr>
        <p:spPr>
          <a:xfrm>
            <a:off x="11029950" y="6410325"/>
            <a:ext cx="4286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r">
              <a:defRPr sz="1200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EB3492B-6ACD-428F-8400-5F6C5D346865}"/>
              </a:ext>
            </a:extLst>
          </p:cNvPr>
          <p:cNvSpPr>
            <a:spLocks noGrp="1"/>
          </p:cNvSpPr>
          <p:nvPr/>
        </p:nvSpPr>
        <p:spPr>
          <a:xfrm>
            <a:off x="685800" y="1609725"/>
            <a:ext cx="100012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56532"/>
                </a:solidFill>
                <a:latin typeface="Arial"/>
                <a:ea typeface="Arial"/>
                <a:cs typeface="Arial"/>
              </a:rPr>
              <a:t>Цена за единицу не описывает всю закупку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77F3AC8-5DD0-4F25-A5DD-1D839DEC8EEA}"/>
              </a:ext>
            </a:extLst>
          </p:cNvPr>
          <p:cNvSpPr>
            <a:spLocks noGrp="1"/>
          </p:cNvSpPr>
          <p:nvPr/>
        </p:nvSpPr>
        <p:spPr>
          <a:xfrm>
            <a:off x="723900" y="2571750"/>
            <a:ext cx="4953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5653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BB00082-5035-433A-A9F0-5BF147AC3E1D}"/>
              </a:ext>
            </a:extLst>
          </p:cNvPr>
          <p:cNvSpPr>
            <a:spLocks noGrp="1"/>
          </p:cNvSpPr>
          <p:nvPr/>
        </p:nvSpPr>
        <p:spPr>
          <a:xfrm>
            <a:off x="1333500" y="2571750"/>
            <a:ext cx="39624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Количество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573546D-BE6B-40A7-9CF3-C252467C89D2}"/>
              </a:ext>
            </a:extLst>
          </p:cNvPr>
          <p:cNvSpPr>
            <a:spLocks noGrp="1"/>
          </p:cNvSpPr>
          <p:nvPr/>
        </p:nvSpPr>
        <p:spPr>
          <a:xfrm>
            <a:off x="1333500" y="2952750"/>
            <a:ext cx="3962400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Сколько материала требуется по перечню работ и норме расхода.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E0AA28F-0C1D-4539-B6FE-C8ECC8A46076}"/>
              </a:ext>
            </a:extLst>
          </p:cNvPr>
          <p:cNvSpPr>
            <a:spLocks noGrp="1"/>
          </p:cNvSpPr>
          <p:nvPr/>
        </p:nvSpPr>
        <p:spPr>
          <a:xfrm>
            <a:off x="723900" y="3695700"/>
            <a:ext cx="4953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5653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D3BEA14-78D8-4CF6-97CB-9105A795D7AC}"/>
              </a:ext>
            </a:extLst>
          </p:cNvPr>
          <p:cNvSpPr>
            <a:spLocks noGrp="1"/>
          </p:cNvSpPr>
          <p:nvPr/>
        </p:nvSpPr>
        <p:spPr>
          <a:xfrm>
            <a:off x="1333500" y="3695700"/>
            <a:ext cx="39624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Наличие и дата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C26D94F-25A1-42D9-964E-106EA6F0F8D3}"/>
              </a:ext>
            </a:extLst>
          </p:cNvPr>
          <p:cNvSpPr>
            <a:spLocks noGrp="1"/>
          </p:cNvSpPr>
          <p:nvPr/>
        </p:nvSpPr>
        <p:spPr>
          <a:xfrm>
            <a:off x="1333500" y="4076700"/>
            <a:ext cx="3962400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Хватит ли остатка к нужному этапу строительства.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B6115EE-731C-405B-BED5-C9195A3C88F7}"/>
              </a:ext>
            </a:extLst>
          </p:cNvPr>
          <p:cNvSpPr>
            <a:spLocks noGrp="1"/>
          </p:cNvSpPr>
          <p:nvPr/>
        </p:nvSpPr>
        <p:spPr>
          <a:xfrm>
            <a:off x="723900" y="4819650"/>
            <a:ext cx="4953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5653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02D9B8A-D36D-426B-8E51-DA8281497EAE}"/>
              </a:ext>
            </a:extLst>
          </p:cNvPr>
          <p:cNvSpPr>
            <a:spLocks noGrp="1"/>
          </p:cNvSpPr>
          <p:nvPr/>
        </p:nvSpPr>
        <p:spPr>
          <a:xfrm>
            <a:off x="1333500" y="4819650"/>
            <a:ext cx="39624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Доставка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F06EA26-7DC9-4EE0-B647-3DFD35AFF348}"/>
              </a:ext>
            </a:extLst>
          </p:cNvPr>
          <p:cNvSpPr>
            <a:spLocks noGrp="1"/>
          </p:cNvSpPr>
          <p:nvPr/>
        </p:nvSpPr>
        <p:spPr>
          <a:xfrm>
            <a:off x="1333500" y="5200650"/>
            <a:ext cx="3962400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Сколько стоит поставка с учётом выбранных продавцов.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5867720-92B6-4A47-B245-4097D9085144}"/>
              </a:ext>
            </a:extLst>
          </p:cNvPr>
          <p:cNvSpPr>
            <a:spLocks noGrp="1"/>
          </p:cNvSpPr>
          <p:nvPr/>
        </p:nvSpPr>
        <p:spPr>
          <a:xfrm>
            <a:off x="6429375" y="2552700"/>
            <a:ext cx="4000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96B61"/>
                </a:solidFill>
                <a:latin typeface="Arial"/>
                <a:ea typeface="Arial"/>
                <a:cs typeface="Arial"/>
              </a:rPr>
              <a:t>Цель работы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A147AFA-54B3-4D3D-98DA-D8D51DBC2BEA}"/>
              </a:ext>
            </a:extLst>
          </p:cNvPr>
          <p:cNvSpPr>
            <a:spLocks noGrp="1"/>
          </p:cNvSpPr>
          <p:nvPr/>
        </p:nvSpPr>
        <p:spPr>
          <a:xfrm>
            <a:off x="6429375" y="2990850"/>
            <a:ext cx="4429125" cy="2143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Провести закупку от расчёта потребности до завершённой поставки в одном приложении.</a:t>
            </a:r>
          </a:p>
        </p:txBody>
      </p:sp>
    </p:spTree>
    <p:extLst>
      <p:ext uri="{BB962C8B-B14F-4D97-AF65-F5344CB8AC3E}">
        <p14:creationId xmlns:p14="http://schemas.microsoft.com/office/powerpoint/2010/main" val="1396783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DF9B468-1952-4737-87C7-A0B6C4DE1A03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3000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Аналоги и рамки проекта</a:t>
            </a:r>
          </a:p>
        </p:txBody>
      </p:sp>
      <p:sp>
        <p:nv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759FDCDE-8B19-4F4F-8619-1287AB4E322C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1082040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2A32CF2-3E3B-425A-90C7-B1B50735708B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3238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ОБЪЕКТМАРКЕТ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93F1384-428A-4777-838A-75E7AE7E21DD}"/>
              </a:ext>
            </a:extLst>
          </p:cNvPr>
          <p:cNvSpPr>
            <a:spLocks noGrp="1"/>
          </p:cNvSpPr>
          <p:nvPr/>
        </p:nvSpPr>
        <p:spPr>
          <a:xfrm>
            <a:off x="11029950" y="6410325"/>
            <a:ext cx="4286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r">
              <a:defRPr sz="1200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ACCF80A-F10B-4779-BE86-EC8B23FE6BBD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6680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325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Строительные площадки уже существуют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C036DF5-2D20-4FA9-9759-0ABE8A5F4628}"/>
              </a:ext>
            </a:extLst>
          </p:cNvPr>
          <p:cNvSpPr>
            <a:spLocks noGrp="1"/>
          </p:cNvSpPr>
          <p:nvPr/>
        </p:nvSpPr>
        <p:spPr>
          <a:xfrm>
            <a:off x="714375" y="2400300"/>
            <a:ext cx="271462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СтройОнли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95E806C-9C74-4366-8E04-D0BD30DF777F}"/>
              </a:ext>
            </a:extLst>
          </p:cNvPr>
          <p:cNvSpPr>
            <a:spLocks noGrp="1"/>
          </p:cNvSpPr>
          <p:nvPr/>
        </p:nvSpPr>
        <p:spPr>
          <a:xfrm>
            <a:off x="3400425" y="2400300"/>
            <a:ext cx="7429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Каталог и загрузка сметы</a:t>
            </a:r>
          </a:p>
        </p:txBody>
      </p:sp>
      <p:sp>
        <p:nv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AB71EE70-A771-4868-A92F-0AB1759CEC07}"/>
              </a:ext>
            </a:extLst>
          </p:cNvPr>
          <p:cNvSpPr>
            <a:spLocks noGrp="1"/>
          </p:cNvSpPr>
          <p:nvPr/>
        </p:nvSpPr>
        <p:spPr>
          <a:xfrm>
            <a:off x="714375" y="2914650"/>
            <a:ext cx="1019175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7C35385-98BB-4A8C-8E31-090458B3C7F9}"/>
              </a:ext>
            </a:extLst>
          </p:cNvPr>
          <p:cNvSpPr>
            <a:spLocks noGrp="1"/>
          </p:cNvSpPr>
          <p:nvPr/>
        </p:nvSpPr>
        <p:spPr>
          <a:xfrm>
            <a:off x="714375" y="3105150"/>
            <a:ext cx="271462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ЛОГИ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97E2240-A550-40A6-BDCF-3D61099895CF}"/>
              </a:ext>
            </a:extLst>
          </p:cNvPr>
          <p:cNvSpPr>
            <a:spLocks noGrp="1"/>
          </p:cNvSpPr>
          <p:nvPr/>
        </p:nvSpPr>
        <p:spPr>
          <a:xfrm>
            <a:off x="3400425" y="3105150"/>
            <a:ext cx="7429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Комплектация и доставка на объект</a:t>
            </a:r>
          </a:p>
        </p:txBody>
      </p:sp>
      <p:sp>
        <p:nv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CAC93B6B-8E83-41F1-851F-F51AFB28D168}"/>
              </a:ext>
            </a:extLst>
          </p:cNvPr>
          <p:cNvSpPr>
            <a:spLocks noGrp="1"/>
          </p:cNvSpPr>
          <p:nvPr/>
        </p:nvSpPr>
        <p:spPr>
          <a:xfrm>
            <a:off x="714375" y="3619500"/>
            <a:ext cx="1019175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751E795-2DE5-464F-BD21-4B39B78DA191}"/>
              </a:ext>
            </a:extLst>
          </p:cNvPr>
          <p:cNvSpPr>
            <a:spLocks noGrp="1"/>
          </p:cNvSpPr>
          <p:nvPr/>
        </p:nvSpPr>
        <p:spPr>
          <a:xfrm>
            <a:off x="714375" y="3810000"/>
            <a:ext cx="271462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Петрович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C4F0B59-9C2A-4FDF-A1A9-766F0FF12228}"/>
              </a:ext>
            </a:extLst>
          </p:cNvPr>
          <p:cNvSpPr>
            <a:spLocks noGrp="1"/>
          </p:cNvSpPr>
          <p:nvPr/>
        </p:nvSpPr>
        <p:spPr>
          <a:xfrm>
            <a:off x="3400425" y="3810000"/>
            <a:ext cx="7429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Интернет-магазин и сервисы расчёта</a:t>
            </a:r>
          </a:p>
        </p:txBody>
      </p:sp>
      <p:sp>
        <p:nv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B14D7EF7-2DF0-47A6-800E-B219BF12C4E4}"/>
              </a:ext>
            </a:extLst>
          </p:cNvPr>
          <p:cNvSpPr>
            <a:spLocks noGrp="1"/>
          </p:cNvSpPr>
          <p:nvPr/>
        </p:nvSpPr>
        <p:spPr>
          <a:xfrm>
            <a:off x="714375" y="4324350"/>
            <a:ext cx="1019175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70DB528-6896-4C4A-A3A6-A6F46A634C42}"/>
              </a:ext>
            </a:extLst>
          </p:cNvPr>
          <p:cNvSpPr>
            <a:spLocks noGrp="1"/>
          </p:cNvSpPr>
          <p:nvPr/>
        </p:nvSpPr>
        <p:spPr>
          <a:xfrm>
            <a:off x="714375" y="4676775"/>
            <a:ext cx="10477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950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В «ОбъектМаркете» проверяется связка потребности объекта, предложений и отдельной поставки.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9C108AB-1FB6-47C2-8C6D-E475EB8D7C8D}"/>
              </a:ext>
            </a:extLst>
          </p:cNvPr>
          <p:cNvSpPr>
            <a:spLocks noGrp="1"/>
          </p:cNvSpPr>
          <p:nvPr/>
        </p:nvSpPr>
        <p:spPr>
          <a:xfrm>
            <a:off x="714375" y="5791200"/>
            <a:ext cx="10477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0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56532"/>
                </a:solidFill>
                <a:latin typeface="Arial"/>
                <a:ea typeface="Arial"/>
                <a:cs typeface="Arial"/>
              </a:rPr>
              <a:t>Все продавцы и цены учебные. Оплата и движение машины моделируются.</a:t>
            </a:r>
          </a:p>
        </p:txBody>
      </p:sp>
    </p:spTree>
    <p:extLst>
      <p:ext uri="{BB962C8B-B14F-4D97-AF65-F5344CB8AC3E}">
        <p14:creationId xmlns:p14="http://schemas.microsoft.com/office/powerpoint/2010/main" val="1379829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448D449-8B21-4EB7-8166-42B462AB3989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3000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Предметная модель</a:t>
            </a:r>
          </a:p>
        </p:txBody>
      </p:sp>
      <p:sp>
        <p:nv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7AE8AE51-7B94-48E3-BCE0-ADF4DC6FC630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1082040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CB0CB60-406B-412C-A799-58C062AD36F3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3238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ОБЪЕКТМАРКЕТ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1183EDB-EF36-4077-9DC2-DDC423122B44}"/>
              </a:ext>
            </a:extLst>
          </p:cNvPr>
          <p:cNvSpPr>
            <a:spLocks noGrp="1"/>
          </p:cNvSpPr>
          <p:nvPr/>
        </p:nvSpPr>
        <p:spPr>
          <a:xfrm>
            <a:off x="11029950" y="6410325"/>
            <a:ext cx="4286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r">
              <a:defRPr sz="1200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B90E7FD-AD18-4507-86C4-07D1AC16C67E}"/>
              </a:ext>
            </a:extLst>
          </p:cNvPr>
          <p:cNvSpPr>
            <a:spLocks noGrp="1"/>
          </p:cNvSpPr>
          <p:nvPr/>
        </p:nvSpPr>
        <p:spPr>
          <a:xfrm>
            <a:off x="714375" y="1590675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Материал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1C7CE70-2930-480C-B8F3-FEC3F8E08F4E}"/>
              </a:ext>
            </a:extLst>
          </p:cNvPr>
          <p:cNvSpPr>
            <a:spLocks noGrp="1"/>
          </p:cNvSpPr>
          <p:nvPr/>
        </p:nvSpPr>
        <p:spPr>
          <a:xfrm>
            <a:off x="3295650" y="1590675"/>
            <a:ext cx="738187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0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D2D26"/>
                </a:solidFill>
                <a:latin typeface="Arial"/>
                <a:ea typeface="Arial"/>
                <a:cs typeface="Arial"/>
              </a:rPr>
              <a:t>Характеристики и единица измерения</a:t>
            </a:r>
          </a:p>
        </p:txBody>
      </p:sp>
      <p:sp>
        <p:nv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84187B35-03E3-490F-A6DE-FFAC250B8F51}"/>
              </a:ext>
            </a:extLst>
          </p:cNvPr>
          <p:cNvSpPr>
            <a:spLocks noGrp="1"/>
          </p:cNvSpPr>
          <p:nvPr/>
        </p:nvSpPr>
        <p:spPr>
          <a:xfrm>
            <a:off x="714375" y="2276475"/>
            <a:ext cx="10144125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028176B-8670-41FD-A30D-B8F430C15862}"/>
              </a:ext>
            </a:extLst>
          </p:cNvPr>
          <p:cNvSpPr>
            <a:spLocks noGrp="1"/>
          </p:cNvSpPr>
          <p:nvPr/>
        </p:nvSpPr>
        <p:spPr>
          <a:xfrm>
            <a:off x="714375" y="245745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748D576-D936-4EEF-A43F-74B1F49128CC}"/>
              </a:ext>
            </a:extLst>
          </p:cNvPr>
          <p:cNvSpPr>
            <a:spLocks noGrp="1"/>
          </p:cNvSpPr>
          <p:nvPr/>
        </p:nvSpPr>
        <p:spPr>
          <a:xfrm>
            <a:off x="3295650" y="2457450"/>
            <a:ext cx="738187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0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D2D26"/>
                </a:solidFill>
                <a:latin typeface="Arial"/>
                <a:ea typeface="Arial"/>
                <a:cs typeface="Arial"/>
              </a:rPr>
              <a:t>Поставщик, цена, срок и остаток</a:t>
            </a:r>
          </a:p>
        </p:txBody>
      </p:sp>
      <p:sp>
        <p:nv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08D2A04B-54A8-4B97-9932-400D8FF35F97}"/>
              </a:ext>
            </a:extLst>
          </p:cNvPr>
          <p:cNvSpPr>
            <a:spLocks noGrp="1"/>
          </p:cNvSpPr>
          <p:nvPr/>
        </p:nvSpPr>
        <p:spPr>
          <a:xfrm>
            <a:off x="714375" y="3143250"/>
            <a:ext cx="10144125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C550042-EF5A-42FA-9181-FC2CD9BAEFA9}"/>
              </a:ext>
            </a:extLst>
          </p:cNvPr>
          <p:cNvSpPr>
            <a:spLocks noGrp="1"/>
          </p:cNvSpPr>
          <p:nvPr/>
        </p:nvSpPr>
        <p:spPr>
          <a:xfrm>
            <a:off x="714375" y="3324225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Объект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A6F61B8-92E4-4A04-A210-66BDDBF4B4B7}"/>
              </a:ext>
            </a:extLst>
          </p:cNvPr>
          <p:cNvSpPr>
            <a:spLocks noGrp="1"/>
          </p:cNvSpPr>
          <p:nvPr/>
        </p:nvSpPr>
        <p:spPr>
          <a:xfrm>
            <a:off x="3295650" y="3324225"/>
            <a:ext cx="738187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0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D2D26"/>
                </a:solidFill>
                <a:latin typeface="Arial"/>
                <a:ea typeface="Arial"/>
                <a:cs typeface="Arial"/>
              </a:rPr>
              <a:t>Адрес и потребность по этапам</a:t>
            </a:r>
          </a:p>
        </p:txBody>
      </p:sp>
      <p:sp>
        <p:nv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C71D2E2F-2C1B-41B1-9791-D5E68750256B}"/>
              </a:ext>
            </a:extLst>
          </p:cNvPr>
          <p:cNvSpPr>
            <a:spLocks noGrp="1"/>
          </p:cNvSpPr>
          <p:nvPr/>
        </p:nvSpPr>
        <p:spPr>
          <a:xfrm>
            <a:off x="714375" y="4010025"/>
            <a:ext cx="10144125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A6C4E8A-7D45-4A11-A9F3-A1ECD9660121}"/>
              </a:ext>
            </a:extLst>
          </p:cNvPr>
          <p:cNvSpPr>
            <a:spLocks noGrp="1"/>
          </p:cNvSpPr>
          <p:nvPr/>
        </p:nvSpPr>
        <p:spPr>
          <a:xfrm>
            <a:off x="714375" y="4191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Заказ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40867E0-23FE-41CA-A296-A1B66B608A11}"/>
              </a:ext>
            </a:extLst>
          </p:cNvPr>
          <p:cNvSpPr>
            <a:spLocks noGrp="1"/>
          </p:cNvSpPr>
          <p:nvPr/>
        </p:nvSpPr>
        <p:spPr>
          <a:xfrm>
            <a:off x="3295650" y="4191000"/>
            <a:ext cx="738187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0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D2D26"/>
                </a:solidFill>
                <a:latin typeface="Arial"/>
                <a:ea typeface="Arial"/>
                <a:cs typeface="Arial"/>
              </a:rPr>
              <a:t>Зафиксированные позиции и цены</a:t>
            </a:r>
          </a:p>
        </p:txBody>
      </p:sp>
      <p:sp>
        <p:nv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F7A9646A-FA98-42C7-995C-EC8FBE00B373}"/>
              </a:ext>
            </a:extLst>
          </p:cNvPr>
          <p:cNvSpPr>
            <a:spLocks noGrp="1"/>
          </p:cNvSpPr>
          <p:nvPr/>
        </p:nvSpPr>
        <p:spPr>
          <a:xfrm>
            <a:off x="714375" y="4876800"/>
            <a:ext cx="10144125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4A0A61E-8917-4F1E-8369-5899AF7EDB19}"/>
              </a:ext>
            </a:extLst>
          </p:cNvPr>
          <p:cNvSpPr>
            <a:spLocks noGrp="1"/>
          </p:cNvSpPr>
          <p:nvPr/>
        </p:nvSpPr>
        <p:spPr>
          <a:xfrm>
            <a:off x="714375" y="5057775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Поставка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D3FAB34C-7BFE-410E-9DD5-2A2BD8D9DBFC}"/>
              </a:ext>
            </a:extLst>
          </p:cNvPr>
          <p:cNvSpPr>
            <a:spLocks noGrp="1"/>
          </p:cNvSpPr>
          <p:nvPr/>
        </p:nvSpPr>
        <p:spPr>
          <a:xfrm>
            <a:off x="3295650" y="5057775"/>
            <a:ext cx="738187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0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D2D26"/>
                </a:solidFill>
                <a:latin typeface="Arial"/>
                <a:ea typeface="Arial"/>
                <a:cs typeface="Arial"/>
              </a:rPr>
              <a:t>Отдельный статус для поставщика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6FEF7A6-6A5E-45F0-8B13-90A95CC3F9DF}"/>
              </a:ext>
            </a:extLst>
          </p:cNvPr>
          <p:cNvSpPr>
            <a:spLocks noGrp="1"/>
          </p:cNvSpPr>
          <p:nvPr/>
        </p:nvSpPr>
        <p:spPr>
          <a:xfrm>
            <a:off x="714375" y="5962650"/>
            <a:ext cx="10477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0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56532"/>
                </a:solidFill>
                <a:latin typeface="Arial"/>
                <a:ea typeface="Arial"/>
                <a:cs typeface="Arial"/>
              </a:rPr>
              <a:t>Один материал может иметь несколько предложений. Один заказ может включать несколько поставок.</a:t>
            </a:r>
          </a:p>
        </p:txBody>
      </p:sp>
    </p:spTree>
    <p:extLst>
      <p:ext uri="{BB962C8B-B14F-4D97-AF65-F5344CB8AC3E}">
        <p14:creationId xmlns:p14="http://schemas.microsoft.com/office/powerpoint/2010/main" val="244437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A8C6B23-8806-466F-881A-A7A899CF1C9D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3000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Расчёт закупки для объекта</a:t>
            </a:r>
          </a:p>
        </p:txBody>
      </p:sp>
      <p:sp>
        <p:nv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18C8751C-13B5-4138-955E-FDBE318225E7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1082040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29A2F6B-43F3-46F0-A775-4754B7F51C66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3238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ОБЪЕКТМАРКЕТ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FF2C902-3E18-405D-82C7-474D2122B412}"/>
              </a:ext>
            </a:extLst>
          </p:cNvPr>
          <p:cNvSpPr>
            <a:spLocks noGrp="1"/>
          </p:cNvSpPr>
          <p:nvPr/>
        </p:nvSpPr>
        <p:spPr>
          <a:xfrm>
            <a:off x="11029950" y="6410325"/>
            <a:ext cx="4286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r">
              <a:defRPr sz="1200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/>
          <a:srcRect t="79" b="79"/>
          <a:stretch>
            <a:fillRect/>
          </a:stretch>
        </p:blipFill>
        <p:spPr>
          <a:xfrm>
            <a:off x="714375" y="1581150"/>
            <a:ext cx="7219950" cy="4505325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AEF92EF-62B9-4A25-9986-7E8CFA074884}"/>
              </a:ext>
            </a:extLst>
          </p:cNvPr>
          <p:cNvSpPr>
            <a:spLocks noGrp="1"/>
          </p:cNvSpPr>
          <p:nvPr/>
        </p:nvSpPr>
        <p:spPr>
          <a:xfrm>
            <a:off x="8277225" y="1733550"/>
            <a:ext cx="31051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12 мешков цемента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907EB4A-1FDB-4AB8-88EA-08071886F01B}"/>
              </a:ext>
            </a:extLst>
          </p:cNvPr>
          <p:cNvSpPr>
            <a:spLocks noGrp="1"/>
          </p:cNvSpPr>
          <p:nvPr/>
        </p:nvSpPr>
        <p:spPr>
          <a:xfrm>
            <a:off x="8277225" y="2247900"/>
            <a:ext cx="30765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к этапу 10.10.2026</a:t>
            </a:r>
          </a:p>
        </p:txBody>
      </p:sp>
      <p:sp>
        <p:nv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107FE45C-B872-4340-907E-D2E41C6A1C32}"/>
              </a:ext>
            </a:extLst>
          </p:cNvPr>
          <p:cNvSpPr>
            <a:spLocks noGrp="1"/>
          </p:cNvSpPr>
          <p:nvPr/>
        </p:nvSpPr>
        <p:spPr>
          <a:xfrm>
            <a:off x="8286750" y="2876550"/>
            <a:ext cx="283845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E7D9ECA-8C4C-4773-9049-B3E804E7128D}"/>
              </a:ext>
            </a:extLst>
          </p:cNvPr>
          <p:cNvSpPr>
            <a:spLocks noGrp="1"/>
          </p:cNvSpPr>
          <p:nvPr/>
        </p:nvSpPr>
        <p:spPr>
          <a:xfrm>
            <a:off x="8277225" y="3143250"/>
            <a:ext cx="3095625" cy="182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0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D2D26"/>
                </a:solidFill>
                <a:latin typeface="Arial"/>
                <a:ea typeface="Arial"/>
                <a:cs typeface="Arial"/>
              </a:rPr>
              <a:t>Подбор учитывает остаток, дату и цену позиции с доставкой. Итоговую доставку сервер считает по поставщикам.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8E1B7F0-AB46-4460-9443-47E5D7C8D4BA}"/>
              </a:ext>
            </a:extLst>
          </p:cNvPr>
          <p:cNvSpPr>
            <a:spLocks noGrp="1"/>
          </p:cNvSpPr>
          <p:nvPr/>
        </p:nvSpPr>
        <p:spPr>
          <a:xfrm>
            <a:off x="8277225" y="5419725"/>
            <a:ext cx="31051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1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56532"/>
                </a:solidFill>
                <a:latin typeface="Arial"/>
                <a:ea typeface="Arial"/>
                <a:cs typeface="Arial"/>
              </a:rPr>
              <a:t>CSV / XLSX, до 200 строк</a:t>
            </a:r>
          </a:p>
        </p:txBody>
      </p:sp>
    </p:spTree>
    <p:extLst>
      <p:ext uri="{BB962C8B-B14F-4D97-AF65-F5344CB8AC3E}">
        <p14:creationId xmlns:p14="http://schemas.microsoft.com/office/powerpoint/2010/main" val="864347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655A939-4608-4F7B-8F5B-6A3F58565224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3000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Архитектура приложения</a:t>
            </a:r>
          </a:p>
        </p:txBody>
      </p:sp>
      <p:sp>
        <p:nv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AD15FE45-4E45-491C-8BE5-A28CB041C614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1082040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30F6675-5311-453B-A4AD-58B079D18404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3238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ОБЪЕКТМАРКЕТ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BCD45A0-357C-4E0A-B278-DA6D91BFC867}"/>
              </a:ext>
            </a:extLst>
          </p:cNvPr>
          <p:cNvSpPr>
            <a:spLocks noGrp="1"/>
          </p:cNvSpPr>
          <p:nvPr/>
        </p:nvSpPr>
        <p:spPr>
          <a:xfrm>
            <a:off x="11029950" y="6410325"/>
            <a:ext cx="4286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r">
              <a:defRPr sz="1200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A136BAD-A28E-45BE-B823-707518D8FE5E}"/>
              </a:ext>
            </a:extLst>
          </p:cNvPr>
          <p:cNvSpPr>
            <a:spLocks noGrp="1"/>
          </p:cNvSpPr>
          <p:nvPr/>
        </p:nvSpPr>
        <p:spPr>
          <a:xfrm>
            <a:off x="723900" y="1666875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1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56532"/>
                </a:solidFill>
                <a:latin typeface="Arial"/>
                <a:ea typeface="Arial"/>
                <a:cs typeface="Arial"/>
              </a:rPr>
              <a:t>Браузер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BA49AB7-979B-4D56-81E1-2B1CAE1AB39B}"/>
              </a:ext>
            </a:extLst>
          </p:cNvPr>
          <p:cNvSpPr>
            <a:spLocks noGrp="1"/>
          </p:cNvSpPr>
          <p:nvPr/>
        </p:nvSpPr>
        <p:spPr>
          <a:xfrm>
            <a:off x="2190750" y="1638300"/>
            <a:ext cx="45720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Next.js / React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41CB5AE-16D3-4215-B41E-8631A7FD92AE}"/>
              </a:ext>
            </a:extLst>
          </p:cNvPr>
          <p:cNvSpPr>
            <a:spLocks noGrp="1"/>
          </p:cNvSpPr>
          <p:nvPr/>
        </p:nvSpPr>
        <p:spPr>
          <a:xfrm>
            <a:off x="6838950" y="1666875"/>
            <a:ext cx="4000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Каталог, объекты, кабинеты</a:t>
            </a:r>
          </a:p>
        </p:txBody>
      </p:sp>
      <p:sp>
        <p:nv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170E167-40A4-47E5-9F21-57D75313CB44}"/>
              </a:ext>
            </a:extLst>
          </p:cNvPr>
          <p:cNvSpPr>
            <a:spLocks noGrp="1"/>
          </p:cNvSpPr>
          <p:nvPr/>
        </p:nvSpPr>
        <p:spPr>
          <a:xfrm>
            <a:off x="2190750" y="2533650"/>
            <a:ext cx="857250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8156CF0-C6E0-4547-906D-48787FB892E6}"/>
              </a:ext>
            </a:extLst>
          </p:cNvPr>
          <p:cNvSpPr>
            <a:spLocks noGrp="1"/>
          </p:cNvSpPr>
          <p:nvPr/>
        </p:nvSpPr>
        <p:spPr>
          <a:xfrm>
            <a:off x="723900" y="3076575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1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56532"/>
                </a:solidFill>
                <a:latin typeface="Arial"/>
                <a:ea typeface="Arial"/>
                <a:cs typeface="Arial"/>
              </a:rPr>
              <a:t>Сервер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FDE6829-4062-4594-9F80-F4E8431BD86C}"/>
              </a:ext>
            </a:extLst>
          </p:cNvPr>
          <p:cNvSpPr>
            <a:spLocks noGrp="1"/>
          </p:cNvSpPr>
          <p:nvPr/>
        </p:nvSpPr>
        <p:spPr>
          <a:xfrm>
            <a:off x="2190750" y="3048000"/>
            <a:ext cx="45720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NestJS / TypeScript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4FC0C63-4453-4620-B8F8-543927F50378}"/>
              </a:ext>
            </a:extLst>
          </p:cNvPr>
          <p:cNvSpPr>
            <a:spLocks noGrp="1"/>
          </p:cNvSpPr>
          <p:nvPr/>
        </p:nvSpPr>
        <p:spPr>
          <a:xfrm>
            <a:off x="6838950" y="3076575"/>
            <a:ext cx="4000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HTTP API, права, расчёт заказа</a:t>
            </a:r>
          </a:p>
        </p:txBody>
      </p:sp>
      <p:sp>
        <p:nv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491A2BCB-FED7-44FD-BEF5-7778B858D8FB}"/>
              </a:ext>
            </a:extLst>
          </p:cNvPr>
          <p:cNvSpPr>
            <a:spLocks noGrp="1"/>
          </p:cNvSpPr>
          <p:nvPr/>
        </p:nvSpPr>
        <p:spPr>
          <a:xfrm>
            <a:off x="2190750" y="3943350"/>
            <a:ext cx="857250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A374F3D-74C1-4DB5-ABFF-7FE90B35A5E0}"/>
              </a:ext>
            </a:extLst>
          </p:cNvPr>
          <p:cNvSpPr>
            <a:spLocks noGrp="1"/>
          </p:cNvSpPr>
          <p:nvPr/>
        </p:nvSpPr>
        <p:spPr>
          <a:xfrm>
            <a:off x="723900" y="4486275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1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56532"/>
                </a:solidFill>
                <a:latin typeface="Arial"/>
                <a:ea typeface="Arial"/>
                <a:cs typeface="Arial"/>
              </a:rPr>
              <a:t>Данные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90BA91-8B63-4B47-8AC9-A3297FC2DD0A}"/>
              </a:ext>
            </a:extLst>
          </p:cNvPr>
          <p:cNvSpPr>
            <a:spLocks noGrp="1"/>
          </p:cNvSpPr>
          <p:nvPr/>
        </p:nvSpPr>
        <p:spPr>
          <a:xfrm>
            <a:off x="2190750" y="4457700"/>
            <a:ext cx="45720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47375EC-F159-4FA2-968C-10D39DF9E640}"/>
              </a:ext>
            </a:extLst>
          </p:cNvPr>
          <p:cNvSpPr>
            <a:spLocks noGrp="1"/>
          </p:cNvSpPr>
          <p:nvPr/>
        </p:nvSpPr>
        <p:spPr>
          <a:xfrm>
            <a:off x="6838950" y="4486275"/>
            <a:ext cx="4000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Остатки, заказы и поставки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2EB2383-D25F-4287-AD47-6E9859FAB0D8}"/>
              </a:ext>
            </a:extLst>
          </p:cNvPr>
          <p:cNvSpPr>
            <a:spLocks noGrp="1"/>
          </p:cNvSpPr>
          <p:nvPr/>
        </p:nvSpPr>
        <p:spPr>
          <a:xfrm>
            <a:off x="723900" y="5934075"/>
            <a:ext cx="10001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Docker Compose  ·  миграции и демоданные  ·  OpenAPI</a:t>
            </a:r>
          </a:p>
        </p:txBody>
      </p:sp>
    </p:spTree>
    <p:extLst>
      <p:ext uri="{BB962C8B-B14F-4D97-AF65-F5344CB8AC3E}">
        <p14:creationId xmlns:p14="http://schemas.microsoft.com/office/powerpoint/2010/main" val="442135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46E93E4-DA2B-4141-91A8-CA7BE68FF937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3000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Оформление заказа</a:t>
            </a:r>
          </a:p>
        </p:txBody>
      </p:sp>
      <p:sp>
        <p:nv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F4F4BF75-D2F9-4FB0-BC73-2084EA9CCC44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1082040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2B1CBD-3E4B-4A61-9EAD-8797C480E0E6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3238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ОБЪЕКТМАРКЕТ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278E37F-5B99-4C83-A0C1-3C805F0D2C12}"/>
              </a:ext>
            </a:extLst>
          </p:cNvPr>
          <p:cNvSpPr>
            <a:spLocks noGrp="1"/>
          </p:cNvSpPr>
          <p:nvPr/>
        </p:nvSpPr>
        <p:spPr>
          <a:xfrm>
            <a:off x="11029950" y="6410325"/>
            <a:ext cx="4286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r">
              <a:defRPr sz="1200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61E2DB1-9344-4077-A16F-0B0A147B4BDE}"/>
              </a:ext>
            </a:extLst>
          </p:cNvPr>
          <p:cNvSpPr>
            <a:spLocks noGrp="1"/>
          </p:cNvSpPr>
          <p:nvPr/>
        </p:nvSpPr>
        <p:spPr>
          <a:xfrm>
            <a:off x="723900" y="1790700"/>
            <a:ext cx="4953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5653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6AE0886-7901-41BC-9A57-5166F83C3BE0}"/>
              </a:ext>
            </a:extLst>
          </p:cNvPr>
          <p:cNvSpPr>
            <a:spLocks noGrp="1"/>
          </p:cNvSpPr>
          <p:nvPr/>
        </p:nvSpPr>
        <p:spPr>
          <a:xfrm>
            <a:off x="1333500" y="1790700"/>
            <a:ext cx="9486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Предварительный расчёт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6695927-DC80-44B4-8CA6-B17B79E6E9FB}"/>
              </a:ext>
            </a:extLst>
          </p:cNvPr>
          <p:cNvSpPr>
            <a:spLocks noGrp="1"/>
          </p:cNvSpPr>
          <p:nvPr/>
        </p:nvSpPr>
        <p:spPr>
          <a:xfrm>
            <a:off x="1333500" y="2171700"/>
            <a:ext cx="9486900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Показывает цену, доступность и сроки. Остаток пока не меняется.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53A682B-330F-4205-8392-4BE02B615FC6}"/>
              </a:ext>
            </a:extLst>
          </p:cNvPr>
          <p:cNvSpPr>
            <a:spLocks noGrp="1"/>
          </p:cNvSpPr>
          <p:nvPr/>
        </p:nvSpPr>
        <p:spPr>
          <a:xfrm>
            <a:off x="723900" y="3086100"/>
            <a:ext cx="4953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5653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B929A39-4E26-4CE4-98AB-11624B7B1588}"/>
              </a:ext>
            </a:extLst>
          </p:cNvPr>
          <p:cNvSpPr>
            <a:spLocks noGrp="1"/>
          </p:cNvSpPr>
          <p:nvPr/>
        </p:nvSpPr>
        <p:spPr>
          <a:xfrm>
            <a:off x="1333500" y="3086100"/>
            <a:ext cx="9486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Транзакция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8F214E9-BA3D-45E7-A448-6795524F5815}"/>
              </a:ext>
            </a:extLst>
          </p:cNvPr>
          <p:cNvSpPr>
            <a:spLocks noGrp="1"/>
          </p:cNvSpPr>
          <p:nvPr/>
        </p:nvSpPr>
        <p:spPr>
          <a:xfrm>
            <a:off x="1333500" y="3467100"/>
            <a:ext cx="9486900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Сервер повторно проверяет предложения и блокирует строки остатков.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A4EAB87-A540-46BB-B02B-961446296915}"/>
              </a:ext>
            </a:extLst>
          </p:cNvPr>
          <p:cNvSpPr>
            <a:spLocks noGrp="1"/>
          </p:cNvSpPr>
          <p:nvPr/>
        </p:nvSpPr>
        <p:spPr>
          <a:xfrm>
            <a:off x="723900" y="4381500"/>
            <a:ext cx="4953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5653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2576548-DC31-4C72-8FD3-FAB211B76319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9486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Резерв и заказ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C97DD4F-A092-49DA-9602-E011BE9E89F6}"/>
              </a:ext>
            </a:extLst>
          </p:cNvPr>
          <p:cNvSpPr>
            <a:spLocks noGrp="1"/>
          </p:cNvSpPr>
          <p:nvPr/>
        </p:nvSpPr>
        <p:spPr>
          <a:xfrm>
            <a:off x="1333500" y="4762500"/>
            <a:ext cx="9486900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Количество уменьшается один раз. Повтор запроса возвращает тот же заказ.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8E7FA2C-E1FF-439A-A468-D72EA742128A}"/>
              </a:ext>
            </a:extLst>
          </p:cNvPr>
          <p:cNvSpPr>
            <a:spLocks noGrp="1"/>
          </p:cNvSpPr>
          <p:nvPr/>
        </p:nvSpPr>
        <p:spPr>
          <a:xfrm>
            <a:off x="723900" y="5886450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56532"/>
                </a:solidFill>
                <a:latin typeface="Arial"/>
                <a:ea typeface="Arial"/>
                <a:cs typeface="Arial"/>
              </a:rPr>
              <a:t>Отмена или истечение 30 минут возвращают резерв на склад.</a:t>
            </a:r>
          </a:p>
        </p:txBody>
      </p:sp>
    </p:spTree>
    <p:extLst>
      <p:ext uri="{BB962C8B-B14F-4D97-AF65-F5344CB8AC3E}">
        <p14:creationId xmlns:p14="http://schemas.microsoft.com/office/powerpoint/2010/main" val="1799042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03155AB-FC43-497E-B925-8715266B6FD6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3000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Поставка и карта</a:t>
            </a:r>
          </a:p>
        </p:txBody>
      </p:sp>
      <p:sp>
        <p:nv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185BE2C9-36D0-4772-81E9-2F1C20A20903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1082040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90C7213-3521-47A7-A3CD-DAE07F258EE0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3238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ОБЪЕКТМАРКЕТ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82040BF-AC3A-4E77-8025-59028AB2E7FB}"/>
              </a:ext>
            </a:extLst>
          </p:cNvPr>
          <p:cNvSpPr>
            <a:spLocks noGrp="1"/>
          </p:cNvSpPr>
          <p:nvPr/>
        </p:nvSpPr>
        <p:spPr>
          <a:xfrm>
            <a:off x="11029950" y="6410325"/>
            <a:ext cx="4286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r">
              <a:defRPr sz="1200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rcRect l="214" r="214"/>
          <a:stretch>
            <a:fillRect/>
          </a:stretch>
        </p:blipFill>
        <p:spPr>
          <a:xfrm>
            <a:off x="714375" y="1581150"/>
            <a:ext cx="7086600" cy="4448175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C5582C8-1001-49A7-9ADD-46F76B357F5A}"/>
              </a:ext>
            </a:extLst>
          </p:cNvPr>
          <p:cNvSpPr>
            <a:spLocks noGrp="1"/>
          </p:cNvSpPr>
          <p:nvPr/>
        </p:nvSpPr>
        <p:spPr>
          <a:xfrm>
            <a:off x="8105775" y="1628775"/>
            <a:ext cx="31718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Покупатель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6EF39F0-78C4-4860-8B29-E503C070211E}"/>
              </a:ext>
            </a:extLst>
          </p:cNvPr>
          <p:cNvSpPr>
            <a:spLocks noGrp="1"/>
          </p:cNvSpPr>
          <p:nvPr/>
        </p:nvSpPr>
        <p:spPr>
          <a:xfrm>
            <a:off x="8105775" y="2028825"/>
            <a:ext cx="3143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видит заказ и статусы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1C7AFF2-A4B0-4D81-AB3A-72E0D0CD7456}"/>
              </a:ext>
            </a:extLst>
          </p:cNvPr>
          <p:cNvSpPr>
            <a:spLocks noGrp="1"/>
          </p:cNvSpPr>
          <p:nvPr/>
        </p:nvSpPr>
        <p:spPr>
          <a:xfrm>
            <a:off x="8105775" y="2695575"/>
            <a:ext cx="31718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Диспетчер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F5C005A-0DDF-46C1-81E7-E3F92F5A1484}"/>
              </a:ext>
            </a:extLst>
          </p:cNvPr>
          <p:cNvSpPr>
            <a:spLocks noGrp="1"/>
          </p:cNvSpPr>
          <p:nvPr/>
        </p:nvSpPr>
        <p:spPr>
          <a:xfrm>
            <a:off x="8105775" y="3095625"/>
            <a:ext cx="3143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назначает водителя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C6A440E-95B4-46A0-A538-79D5622AAE9E}"/>
              </a:ext>
            </a:extLst>
          </p:cNvPr>
          <p:cNvSpPr>
            <a:spLocks noGrp="1"/>
          </p:cNvSpPr>
          <p:nvPr/>
        </p:nvSpPr>
        <p:spPr>
          <a:xfrm>
            <a:off x="8105775" y="3771900"/>
            <a:ext cx="31718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Водитель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C67B4AB-1260-4FFA-8282-03415EC50034}"/>
              </a:ext>
            </a:extLst>
          </p:cNvPr>
          <p:cNvSpPr>
            <a:spLocks noGrp="1"/>
          </p:cNvSpPr>
          <p:nvPr/>
        </p:nvSpPr>
        <p:spPr>
          <a:xfrm>
            <a:off x="8105775" y="4171950"/>
            <a:ext cx="3143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отмечает этапы рейса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8DD974E-A7F8-4D06-BEF0-8841AEC5326E}"/>
              </a:ext>
            </a:extLst>
          </p:cNvPr>
          <p:cNvSpPr>
            <a:spLocks noGrp="1"/>
          </p:cNvSpPr>
          <p:nvPr/>
        </p:nvSpPr>
        <p:spPr>
          <a:xfrm>
            <a:off x="8105775" y="5095875"/>
            <a:ext cx="3048000" cy="800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56532"/>
                </a:solidFill>
                <a:latin typeface="Arial"/>
                <a:ea typeface="Arial"/>
                <a:cs typeface="Arial"/>
              </a:rPr>
              <a:t>Без ключей показан учебный маршрут. GPS в системе нет.</a:t>
            </a:r>
          </a:p>
        </p:txBody>
      </p:sp>
    </p:spTree>
    <p:extLst>
      <p:ext uri="{BB962C8B-B14F-4D97-AF65-F5344CB8AC3E}">
        <p14:creationId xmlns:p14="http://schemas.microsoft.com/office/powerpoint/2010/main" val="1200736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41DCF38-7B5B-4945-9077-6DE4C808AF80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3000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Испытания</a:t>
            </a:r>
          </a:p>
        </p:txBody>
      </p:sp>
      <p:sp>
        <p:nv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EACD4747-2FE1-4062-B847-BE0733B14A8C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1082040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6B5AE5C-92A4-4605-A26F-EB35AEE00238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3238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ОБЪЕКТМАРКЕТ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C9FCDA7-4EEF-4170-A7A9-B5F3DA094DD2}"/>
              </a:ext>
            </a:extLst>
          </p:cNvPr>
          <p:cNvSpPr>
            <a:spLocks noGrp="1"/>
          </p:cNvSpPr>
          <p:nvPr/>
        </p:nvSpPr>
        <p:spPr>
          <a:xfrm>
            <a:off x="11029950" y="6410325"/>
            <a:ext cx="4286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r">
              <a:defRPr sz="1200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E2468B6-9EFA-4A07-9504-0017E1CD87D5}"/>
              </a:ext>
            </a:extLst>
          </p:cNvPr>
          <p:cNvSpPr>
            <a:spLocks noGrp="1"/>
          </p:cNvSpPr>
          <p:nvPr/>
        </p:nvSpPr>
        <p:spPr>
          <a:xfrm>
            <a:off x="714375" y="1628775"/>
            <a:ext cx="3190875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4500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5 из 5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222A09A-5CF0-43E4-9E47-B655300584B9}"/>
              </a:ext>
            </a:extLst>
          </p:cNvPr>
          <p:cNvSpPr>
            <a:spLocks noGrp="1"/>
          </p:cNvSpPr>
          <p:nvPr/>
        </p:nvSpPr>
        <p:spPr>
          <a:xfrm>
            <a:off x="714375" y="2438400"/>
            <a:ext cx="42862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модульных тестов API</a:t>
            </a:r>
          </a:p>
        </p:txBody>
      </p:sp>
      <p:sp>
        <p:nv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B221CE5F-361D-4D86-8232-22D24852AC14}"/>
              </a:ext>
            </a:extLst>
          </p:cNvPr>
          <p:cNvSpPr>
            <a:spLocks noGrp="1"/>
          </p:cNvSpPr>
          <p:nvPr/>
        </p:nvSpPr>
        <p:spPr>
          <a:xfrm>
            <a:off x="714375" y="3181350"/>
            <a:ext cx="1019175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C07C85C-0A58-4CAE-85F1-229138A6F86F}"/>
              </a:ext>
            </a:extLst>
          </p:cNvPr>
          <p:cNvSpPr>
            <a:spLocks noGrp="1"/>
          </p:cNvSpPr>
          <p:nvPr/>
        </p:nvSpPr>
        <p:spPr>
          <a:xfrm>
            <a:off x="714375" y="3457575"/>
            <a:ext cx="442912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Интеграционный сценарий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0F2AA5-A270-4E50-BD03-45617EBAAF3A}"/>
              </a:ext>
            </a:extLst>
          </p:cNvPr>
          <p:cNvSpPr>
            <a:spLocks noGrp="1"/>
          </p:cNvSpPr>
          <p:nvPr/>
        </p:nvSpPr>
        <p:spPr>
          <a:xfrm>
            <a:off x="5334000" y="3419475"/>
            <a:ext cx="55721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Идемпотентность, нехватка и возврат остатков, права, параллельные заказы.</a:t>
            </a:r>
          </a:p>
        </p:txBody>
      </p:sp>
      <p:sp>
        <p:nv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21B34029-6A52-4982-83B7-665ECB6A920F}"/>
              </a:ext>
            </a:extLst>
          </p:cNvPr>
          <p:cNvSpPr>
            <a:spLocks noGrp="1"/>
          </p:cNvSpPr>
          <p:nvPr/>
        </p:nvSpPr>
        <p:spPr>
          <a:xfrm>
            <a:off x="714375" y="4543425"/>
            <a:ext cx="1019175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C10FDB-3BB2-4DEB-8C8D-2B9246C78DB1}"/>
              </a:ext>
            </a:extLst>
          </p:cNvPr>
          <p:cNvSpPr>
            <a:spLocks noGrp="1"/>
          </p:cNvSpPr>
          <p:nvPr/>
        </p:nvSpPr>
        <p:spPr>
          <a:xfrm>
            <a:off x="714375" y="4810125"/>
            <a:ext cx="442912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Проверка в браузере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816BD8E-14CE-4C0D-9B7B-1B535B21CA5D}"/>
              </a:ext>
            </a:extLst>
          </p:cNvPr>
          <p:cNvSpPr>
            <a:spLocks noGrp="1"/>
          </p:cNvSpPr>
          <p:nvPr/>
        </p:nvSpPr>
        <p:spPr>
          <a:xfrm>
            <a:off x="5334000" y="4772025"/>
            <a:ext cx="5572125" cy="1009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Покупка и поставка до завершения. Широкий экран, планшет и телефон.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4F2CF9A-305D-4A39-8010-978A3033F8A0}"/>
              </a:ext>
            </a:extLst>
          </p:cNvPr>
          <p:cNvSpPr>
            <a:spLocks noGrp="1"/>
          </p:cNvSpPr>
          <p:nvPr/>
        </p:nvSpPr>
        <p:spPr>
          <a:xfrm>
            <a:off x="714375" y="6000750"/>
            <a:ext cx="10477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0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56532"/>
                </a:solidFill>
                <a:latin typeface="Arial"/>
                <a:ea typeface="Arial"/>
                <a:cs typeface="Arial"/>
              </a:rPr>
              <a:t>Внешние сервисы с действующими ключами не испытывались.</a:t>
            </a:r>
          </a:p>
        </p:txBody>
      </p:sp>
    </p:spTree>
    <p:extLst>
      <p:ext uri="{BB962C8B-B14F-4D97-AF65-F5344CB8AC3E}">
        <p14:creationId xmlns:p14="http://schemas.microsoft.com/office/powerpoint/2010/main" val="863361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C2E48C6-7FEA-41D9-884F-388B589548DE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3000" b="1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D2D26"/>
                </a:solidFill>
                <a:latin typeface="Arial"/>
                <a:ea typeface="Arial"/>
                <a:cs typeface="Arial"/>
              </a:rPr>
              <a:t>Результат работы</a:t>
            </a:r>
          </a:p>
        </p:txBody>
      </p:sp>
      <p:sp>
        <p:nv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1DF62A89-5676-4030-9E23-CA102534F111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1082040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81F466F-A464-40A2-919E-79B64AC5C2CD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32385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ОБЪЕКТМАРКЕТ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ACC6D9C-1DE2-4315-BDA5-6229FFA9E529}"/>
              </a:ext>
            </a:extLst>
          </p:cNvPr>
          <p:cNvSpPr>
            <a:spLocks noGrp="1"/>
          </p:cNvSpPr>
          <p:nvPr/>
        </p:nvSpPr>
        <p:spPr>
          <a:xfrm>
            <a:off x="11029950" y="6410325"/>
            <a:ext cx="4286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r">
              <a:defRPr sz="1200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5603246-8C17-4A05-9DD0-B7D26AE6966A}"/>
              </a:ext>
            </a:extLst>
          </p:cNvPr>
          <p:cNvSpPr>
            <a:spLocks noGrp="1"/>
          </p:cNvSpPr>
          <p:nvPr/>
        </p:nvSpPr>
        <p:spPr>
          <a:xfrm>
            <a:off x="723900" y="1733550"/>
            <a:ext cx="1038225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850" b="1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94638"/>
                </a:solidFill>
                <a:latin typeface="Arial"/>
                <a:ea typeface="Arial"/>
                <a:cs typeface="Arial"/>
              </a:rPr>
              <a:t>Работающий сквозной сценарий закупки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8C3E2A5-3F75-4334-9D8B-22CFDF13AD3C}"/>
              </a:ext>
            </a:extLst>
          </p:cNvPr>
          <p:cNvSpPr>
            <a:spLocks noGrp="1"/>
          </p:cNvSpPr>
          <p:nvPr/>
        </p:nvSpPr>
        <p:spPr>
          <a:xfrm>
            <a:off x="723900" y="2600325"/>
            <a:ext cx="10096500" cy="1485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0">
                <a:solidFill>
                  <a:srgbClr val="1D2D2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D2D26"/>
                </a:solidFill>
                <a:latin typeface="Arial"/>
                <a:ea typeface="Arial"/>
                <a:cs typeface="Arial"/>
              </a:rPr>
              <a:t>Каталог, потребность объекта, сравнение предложений, заказ и учебная поставка воспроизводятся после чистого запуска с демоданными.</a:t>
            </a:r>
          </a:p>
        </p:txBody>
      </p:sp>
      <p:sp>
        <p:nv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38B034DD-302F-411E-BD7E-3447090460A1}"/>
              </a:ext>
            </a:extLst>
          </p:cNvPr>
          <p:cNvSpPr>
            <a:spLocks noGrp="1"/>
          </p:cNvSpPr>
          <p:nvPr/>
        </p:nvSpPr>
        <p:spPr>
          <a:xfrm>
            <a:off x="723900" y="4505325"/>
            <a:ext cx="10001250" cy="0"/>
          </a:xfrm>
          <a:prstGeom prst="line">
            <a:avLst/>
          </a:prstGeom>
          <a:noFill/>
          <a:ln w="9525">
            <a:solidFill>
              <a:srgbClr val="CAD5CA"/>
            </a:solidFill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AF1E883-ED1B-4F32-BB94-5F951770FF6A}"/>
              </a:ext>
            </a:extLst>
          </p:cNvPr>
          <p:cNvSpPr>
            <a:spLocks noGrp="1"/>
          </p:cNvSpPr>
          <p:nvPr/>
        </p:nvSpPr>
        <p:spPr>
          <a:xfrm>
            <a:off x="723900" y="4819650"/>
            <a:ext cx="528637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C5653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56532"/>
                </a:solidFill>
                <a:latin typeface="Arial"/>
                <a:ea typeface="Arial"/>
                <a:cs typeface="Arial"/>
              </a:rPr>
              <a:t>Для реального применения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CB88E6E-2560-4D27-AE76-74C4566FCA69}"/>
              </a:ext>
            </a:extLst>
          </p:cNvPr>
          <p:cNvSpPr>
            <a:spLocks noGrp="1"/>
          </p:cNvSpPr>
          <p:nvPr/>
        </p:nvSpPr>
        <p:spPr>
          <a:xfrm>
            <a:off x="723900" y="5276850"/>
            <a:ext cx="10048875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0">
                <a:solidFill>
                  <a:srgbClr val="596B6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96B61"/>
                </a:solidFill>
                <a:latin typeface="Arial"/>
                <a:ea typeface="Arial"/>
                <a:cs typeface="Arial"/>
              </a:rPr>
              <a:t>нужны актуальные данные поставщиков, договоры на сервисы и отдельные эксплуатационные испытания.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54F62C0-8083-4BC8-96AE-5B0433DB69A8}"/>
              </a:ext>
            </a:extLst>
          </p:cNvPr>
          <p:cNvSpPr>
            <a:spLocks noGrp="1"/>
          </p:cNvSpPr>
          <p:nvPr/>
        </p:nvSpPr>
        <p:spPr>
          <a:xfrm>
            <a:off x="723900" y="6057900"/>
            <a:ext cx="981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2946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638"/>
                </a:solidFill>
                <a:latin typeface="Arial"/>
                <a:ea typeface="Arial"/>
                <a:cs typeface="Arial"/>
              </a:rPr>
              <a:t>github.com/SleNdd/construction-supply-marketplace</a:t>
            </a:r>
          </a:p>
        </p:txBody>
      </p:sp>
    </p:spTree>
    <p:extLst>
      <p:ext uri="{BB962C8B-B14F-4D97-AF65-F5344CB8AC3E}">
        <p14:creationId xmlns:p14="http://schemas.microsoft.com/office/powerpoint/2010/main" val="20613425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805</Words>
  <Application>Microsoft Office PowerPoint</Application>
  <DocSecurity>0</DocSecurity>
  <PresentationFormat>Широкоэкранный</PresentationFormat>
  <Paragraphs>118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3" baseType="lpstr">
      <vt:lpstr>Arial</vt:lpstr>
      <vt:lpstr>Calibri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ОбъектМаркет — защита ВКР</dc:title>
  <dc:creator>Бальдюсов Кирилл Андреевич</dc:creator>
  <cp:lastModifiedBy>Бальдюсов Кирилл Андреевич</cp:lastModifiedBy>
  <cp:revision>1</cp:revision>
  <dcterms:created xsi:type="dcterms:W3CDTF">2026-09-27T13:00:00Z</dcterms:created>
  <dcterms:modified xsi:type="dcterms:W3CDTF">2026-09-27T13:25:34Z</dcterms:modified>
  <dc:description/>
</cp:coreProperties>
</file>